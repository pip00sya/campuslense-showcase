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da415b12ca46b6" /><Relationship Type="http://schemas.openxmlformats.org/officeDocument/2006/relationships/extended-properties" Target="/docProps/app.xml" Id="R547683df0a004b82" /><Relationship Type="http://schemas.openxmlformats.org/officeDocument/2006/relationships/officeDocument" Target="/ppt/presentation.xml" Id="Rf7902773704e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87d75549d04d7e"/>
  </p:sldMasterIdLst>
  <p:notesMasterIdLst>
    <p:notesMasterId xmlns:r="http://schemas.openxmlformats.org/officeDocument/2006/relationships" r:id="R0d17d99c95fa4777"/>
  </p:notesMasterIdLst>
  <p:sldIdLst>
    <p:sldId xmlns:r="http://schemas.openxmlformats.org/officeDocument/2006/relationships" id="256" r:id="Rfafb4651d5b44315"/>
    <p:sldId xmlns:r="http://schemas.openxmlformats.org/officeDocument/2006/relationships" id="257" r:id="R60a573f2d3854801"/>
    <p:sldId xmlns:r="http://schemas.openxmlformats.org/officeDocument/2006/relationships" id="258" r:id="Rb55cf5988a044995"/>
    <p:sldId xmlns:r="http://schemas.openxmlformats.org/officeDocument/2006/relationships" id="259" r:id="Recae4f37fda643e0"/>
    <p:sldId xmlns:r="http://schemas.openxmlformats.org/officeDocument/2006/relationships" id="260" r:id="Re4388e25d324469e"/>
    <p:sldId xmlns:r="http://schemas.openxmlformats.org/officeDocument/2006/relationships" id="261" r:id="Ref9f1b035ab24265"/>
    <p:sldId xmlns:r="http://schemas.openxmlformats.org/officeDocument/2006/relationships" id="262" r:id="Rb01024883a874d42"/>
    <p:sldId xmlns:r="http://schemas.openxmlformats.org/officeDocument/2006/relationships" id="263" r:id="R72062118365d43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b69819fc14b3c" /><Relationship Type="http://schemas.openxmlformats.org/officeDocument/2006/relationships/slideMaster" Target="/ppt/slideMasters/slideMaster1.xml" Id="R6587d75549d04d7e" /><Relationship Type="http://schemas.openxmlformats.org/officeDocument/2006/relationships/notesMaster" Target="/ppt/notesMasters/notesMaster1.xml" Id="R0d17d99c95fa4777" /><Relationship Type="http://schemas.openxmlformats.org/officeDocument/2006/relationships/presProps" Target="/ppt/presProps.xml" Id="R8dbc19b280444096" /><Relationship Type="http://schemas.openxmlformats.org/officeDocument/2006/relationships/tableStyles" Target="/ppt/tableStyles.xml" Id="R5101a9cf2cd1466d" /><Relationship Type="http://schemas.openxmlformats.org/officeDocument/2006/relationships/slide" Target="/ppt/slides/slide1.xml" Id="Rfafb4651d5b44315" /><Relationship Type="http://schemas.openxmlformats.org/officeDocument/2006/relationships/slide" Target="/ppt/slides/slide2.xml" Id="R60a573f2d3854801" /><Relationship Type="http://schemas.openxmlformats.org/officeDocument/2006/relationships/slide" Target="/ppt/slides/slide3.xml" Id="Rb55cf5988a044995" /><Relationship Type="http://schemas.openxmlformats.org/officeDocument/2006/relationships/slide" Target="/ppt/slides/slide4.xml" Id="Recae4f37fda643e0" /><Relationship Type="http://schemas.openxmlformats.org/officeDocument/2006/relationships/slide" Target="/ppt/slides/slide5.xml" Id="Re4388e25d324469e" /><Relationship Type="http://schemas.openxmlformats.org/officeDocument/2006/relationships/slide" Target="/ppt/slides/slide6.xml" Id="Ref9f1b035ab24265" /><Relationship Type="http://schemas.openxmlformats.org/officeDocument/2006/relationships/slide" Target="/ppt/slides/slide7.xml" Id="Rb01024883a874d42" /><Relationship Type="http://schemas.openxmlformats.org/officeDocument/2006/relationships/slide" Target="/ppt/slides/slide8.xml" Id="R72062118365d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09ceb25e3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f85aca6c014dc5" /><Relationship Type="http://schemas.openxmlformats.org/officeDocument/2006/relationships/notesMaster" Target="/ppt/notesMasters/notesMaster1.xml" Id="R98222f5cdfcc48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9af9ca4b064f84" /><Relationship Type="http://schemas.openxmlformats.org/officeDocument/2006/relationships/notesMaster" Target="/ppt/notesMasters/notesMaster1.xml" Id="R53dc59f42479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f8e0d3b8d94692" /><Relationship Type="http://schemas.openxmlformats.org/officeDocument/2006/relationships/notesMaster" Target="/ppt/notesMasters/notesMaster1.xml" Id="R33a37ba628c5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1c73ccd3544ea8" /><Relationship Type="http://schemas.openxmlformats.org/officeDocument/2006/relationships/notesMaster" Target="/ppt/notesMasters/notesMaster1.xml" Id="R0defbbbca4a3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5e0bb7c144611" /><Relationship Type="http://schemas.openxmlformats.org/officeDocument/2006/relationships/notesMaster" Target="/ppt/notesMasters/notesMaster1.xml" Id="Rd9dd8f516dd84f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7860e70f94c43" /><Relationship Type="http://schemas.openxmlformats.org/officeDocument/2006/relationships/notesMaster" Target="/ppt/notesMasters/notesMaster1.xml" Id="Rcffa35a59ba743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2a543aab954c56" /><Relationship Type="http://schemas.openxmlformats.org/officeDocument/2006/relationships/notesMaster" Target="/ppt/notesMasters/notesMaster1.xml" Id="Rc4c330407de640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27b05add048eb" /><Relationship Type="http://schemas.openxmlformats.org/officeDocument/2006/relationships/notesMaster" Target="/ppt/notesMasters/notesMaster1.xml" Id="Rf8bc15ef86a5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CampusLense — сервис команды QwertyS для кейса 01 LOCUSCASE1. По названию университета он собирает фотографии, проверяет принадлежность и строит профиль кампуса и студенческой жизни. В universities.json 14 467 записей. Это индекс поиска, а не готовая база фотопрофилей: материалы собираются при запросе. За пределами индекса поиск продолжается через Wikidata, OpenStreetMap и Google Maps. 20+ означает каналы и типы источников в пайплайне, а не число независимых API-провайдеров; фактический набор зависит от доступных интеграций и квот. Источники: README.md, backend/data/universities.json, pipeline/resolve.py, 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кейса — разбросанные, дублирующиеся и непроверяемые фотографии. Решение: единый профиль с восемью категориями, фильтрами по категории, достоверности и дате, кликабельным первоисточником и описанием со сносками. Пустая категория остаётся пустой, если надёжных материалов нет. Поиск по названию использует rapidfuzz, алиасы, транслитерацию и город; неоднозначный запрос даёт список кандидатов. Справа реальный профиль Nazarbayev University. Источники: кейс 01, стр. 1–2; frontend/src/pages/Profile.tsx; components/Photos.tsx; pipeline/resolve.py; docs/screens/09_photos_albums.jpg.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интерактивная карта: вращение, наклон, приближение, слои корпусов и общежитий, геофото, места рядом, маршрут к центру. Google Maps JavaScript API maps3d даёт фотореалистичную сцену. OpenStreetMap и векторные тайлы OpenFreeMap дают геометрию, типы и высоты зданий; Places API New — кафе, транспорт и другие места; Routes API — маршрут. Если Google 3D не покрывает место или карта недоступна, MapLibre показывает объёмы зданий OpenStreetMap. Street View позволяет гулять по улицам и внутри зданий при наличии панорам. Отдельная возможность: Depth Anything V2 Small строит карту глубины для параллакса обычных фото. Трёхмерность карты не доказывает принадлежность найденного фото — проверка выполняется отдельным пайплайном. Источники: components/Campus3D.tsx, WalkTab.tsx, Map3DInset.tsx, pipeline/map3d.py, citygeo.py, depth.py; TECH_NOTE.md; docs/screens/06_3d_mit_close.jpg.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Пайплайн запускает независимые источники конкурентно через asyncio. Геоисточники ждут геометрию кампуса, официальные социальные каналы находятся по ссылкам с сайта университета. Serper используется для Google Images и поиска фото/отзывов; ScrapeCreators для Instagram и TikTok; YouTube Data API и публичные страницы YouTube для роликов; VK API и Telegram для публикаций; Commons, Wikipedia, Openverse и Mapillary для открытых материалов. Поисковые запросы строятся по темам на английском и языке страны; таблица проекта поддерживает 29 языков. Из видео извлекаются кадры, CLIP выбирает информативные сцены места. Загружаются URL первоисточника, автор, лицензия, дата и геометка там, где они доступны. Инспектор Gemini работает малыми параллельными пачками с кэшем (вуз, SHA-1); резервный запрос уменьшает задержки, AI Studio страхует Vertex. Сбор публикует первый полезный профиль по целевому времени 24 с (HARD_CAP_S=29), затем продолжается фоном. ≈22–24 с — замеры README, не гарантированный SLA. Число источников зависит от наличия ключей, квот и содержания. Фото и тексты результата не подменяются генеративными изображениями. Источники: pipeline/orchestrator.py, ai_inspector.py, sources/*.py, video_frames.py, search_plan.py, langs.py, cache.py; TECH_NOTE.md.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Инспектор Gemini на Vertex AI получает кандидаты и эталонный снимок, если он доступен. Он возвращает принадлежность, уверенность 0–3, категорию, наглядность и флаги: сток, иллюстрация, скриншот, коллаж и другие. Если эталона нет, использует метаданные и изображение. CLIP ViT-B/32 определяет семантические категории и визуальное сходство, но сам по себе не устанавливает, что это именно выбранный вуз. Геометрия проверяет GPS внутри полигона OSM, рядом или далеко от кампуса; подпись и URL проверяются на алиасы вуза; происхождение, дата и совпадение в независимых источниках дают дополнительные сигналы. Итог confidence=max(0,min(1,sum(weights))). Пример на показанном паспорте: Places +0.35, Gemini +0.30, наглядность +0.03, CLIP около +0.08, название +0.15, дата +0.03 — около 0.94 с округлением. Это эвристический балл, не вероятность. Базовые пороги кода: 0.65 и 0.40. Жёсткие правила имеют приоритет: чужое место, не-фото, запрещённые флаги, поисковые/краудсорсинговые находки без вердикта, а также совпадения с другим вузом дальше 30 км отклоняются. Дубли: SHA-1 и pHash (Хэмминг ≤8), похожие кадры по косинусу CLIP ≥0.93; crossdup использует pHash ≤6 для удалённых вузов. Куратор выбирает информативные и разнообразные кадры. Сохранённая внутренняя оценка: 223 фото, 7 вузов, TP121 FP8 FN8 TN86, precision/recall/F1 0.938. Категории: 0.945 среди верно принятых фото с размеченной категорией; strict_precision 0.891; featured_precision 0.934. Источники: verify.py, ai_inspector.py, dedup.py, crossdup.py, curate.py, config.py; eval_report.json и scripts/eval.py.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сравнивает университеты и спрашивает советника о кампусе, погоде, транспорте и ориентировочном бюджете. Сравнение опирается на данные двух профилей и их источники. Open-Meteo даёт климатические данные, OSM/Google — географический контекст. Бюджет студента — курируемый ориентир по городам, не текущая котировка каждого расхода. Сервис не обещает поступление и не принимает решение за пользователя. Есть сохранённые вузы, план визита, экспорт/импорт предпочтений, ссылки с превью, русский, казахский и английский интерфейс. Малое число открытых материалов, квоты API и неполное покрытие панорам/3D остаются ограничениями. Источники: README.md; pages/Compare.tsx, Saved.tsx; components/ClimateTab.tsx, CityTab.tsx; pipeline/compare.py, climate.py, city.py; docs/screens/21_compare.jpg.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QwertyS: Ахмер Шахназар — капитан и full-stack разработчик; Аймукатов Нурхан — full-stack разработчик. Роли указаны в README. История разработки доступна в GitHub. Использованы открытые библиотеки и готовые модели, перечисленные в README; применение Claude Code раскрыто там же. После хакатона предлагается расширить независимую разметку и оценку, улучшить покрытие региональных вузов и провести пользовательские проверки. Это план, не завершённый пилот и не заключённое партнёрство. Кейс 01, стр. 4 требует до 8 слайдов: проблема, решение, демонстрация, технология, преимущества, команда и развитие. Поэтому развитие включено компактным блоком вместе с командой; отдельный финальный roadmap не требуется. Источники: README.md; VISION.md; LOCUS_Hackathon_2026_Case_1_Visual_Campus (1).pdf, стр.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живом показе выбрать новый университет, пройти поиск и 3D-карту, открыть фильтры, показать источник и объяснение уверенности нескольких фото, затем вкладку «Проверка» с отклонёнными и причинами. При необходимости проверить ошибочное название и университет с небольшим числом материалов. По кейсу жюри должно самостоятельно повторить сценарий на вузе вне демо. Рабочий продукт: https://pip00sya--campuslense-web.modal.run/ . Код: https://github.com/Eye172/locus-hackathon-1 . Демо-видео: docs/video/demo.mp4; техническая справка: README и docs/TECH_NOTE.md. Регламент финала: до 5 минут на презентацию и демонстрацию; оставить основную часть времени на продукт. Источники: кейс 01, стр. 3–4; README.md, DEMO_SCRIPT.md.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c45b8feda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2d3b7f7eb46c0" /><Relationship Type="http://schemas.openxmlformats.org/officeDocument/2006/relationships/slideLayout" Target="/ppt/slideLayouts/slideLayout1.xml" Id="Rf33e32942659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e32942659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3f2d3e55d4ecc" /><Relationship Type="http://schemas.openxmlformats.org/officeDocument/2006/relationships/image" Target="/ppt/media/image.png" Id="R7201d9c07ac14a16" /><Relationship Type="http://schemas.openxmlformats.org/officeDocument/2006/relationships/image" Target="/ppt/media/image2.png" Id="Rb35e20cd37354eda" /><Relationship Type="http://schemas.openxmlformats.org/officeDocument/2006/relationships/notesSlide" Target="/ppt/notesSlides/notesSlide1.xml" Id="R39145fa3662c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c7bc164c64088" /><Relationship Type="http://schemas.openxmlformats.org/officeDocument/2006/relationships/image" Target="/ppt/media/image3.png" Id="R21c33f5e5b5a4568" /><Relationship Type="http://schemas.openxmlformats.org/officeDocument/2006/relationships/image" Target="/ppt/media/image4.png" Id="Rd4aee5259e8742be" /><Relationship Type="http://schemas.openxmlformats.org/officeDocument/2006/relationships/notesSlide" Target="/ppt/notesSlides/notesSlide2.xml" Id="Ra9664804a237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04208a51b4b55" /><Relationship Type="http://schemas.openxmlformats.org/officeDocument/2006/relationships/image" Target="/ppt/media/image5.png" Id="R5b29350baf804e04" /><Relationship Type="http://schemas.openxmlformats.org/officeDocument/2006/relationships/image" Target="/ppt/media/image.jpeg" Id="R03b061b319d44737" /><Relationship Type="http://schemas.openxmlformats.org/officeDocument/2006/relationships/notesSlide" Target="/ppt/notesSlides/notesSlide3.xml" Id="R0e939bb566f8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2c769dc6c42b3" /><Relationship Type="http://schemas.openxmlformats.org/officeDocument/2006/relationships/image" Target="/ppt/media/image6.png" Id="Rf8e86ede31f7443a" /><Relationship Type="http://schemas.openxmlformats.org/officeDocument/2006/relationships/notesSlide" Target="/ppt/notesSlides/notesSlide4.xml" Id="Rfd74651a54cf4f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cc161542b4003" /><Relationship Type="http://schemas.openxmlformats.org/officeDocument/2006/relationships/image" Target="/ppt/media/image7.png" Id="R4ef4b10d78484912" /><Relationship Type="http://schemas.openxmlformats.org/officeDocument/2006/relationships/image" Target="/ppt/media/image8.png" Id="R1f7ff6f8a405475d" /><Relationship Type="http://schemas.openxmlformats.org/officeDocument/2006/relationships/notesSlide" Target="/ppt/notesSlides/notesSlide5.xml" Id="Rd404b64472094d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43879d7e43c7" /><Relationship Type="http://schemas.openxmlformats.org/officeDocument/2006/relationships/image" Target="/ppt/media/image9.png" Id="Rf6ec05ace77d4a89" /><Relationship Type="http://schemas.openxmlformats.org/officeDocument/2006/relationships/image" Target="/ppt/media/image10.png" Id="Rba9df6c94bde42cf" /><Relationship Type="http://schemas.openxmlformats.org/officeDocument/2006/relationships/notesSlide" Target="/ppt/notesSlides/notesSlide6.xml" Id="R17effa04ce7e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424b5a304008" /><Relationship Type="http://schemas.openxmlformats.org/officeDocument/2006/relationships/image" Target="/ppt/media/image11.png" Id="R0c4cf39dd25e4302" /><Relationship Type="http://schemas.openxmlformats.org/officeDocument/2006/relationships/notesSlide" Target="/ppt/notesSlides/notesSlide7.xml" Id="Rae21aa619ed442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0a1008b66487e" /><Relationship Type="http://schemas.openxmlformats.org/officeDocument/2006/relationships/image" Target="/ppt/media/image12.png" Id="Rcf756e5205cc4f9d" /><Relationship Type="http://schemas.openxmlformats.org/officeDocument/2006/relationships/hyperlink" Target="https://pip00sya--campuslense-web.modal.run/" TargetMode="External" Id="R39c41e9944344b48" /><Relationship Type="http://schemas.openxmlformats.org/officeDocument/2006/relationships/hyperlink" Target="https://github.com/Eye172/locus-hackathon-1" TargetMode="External" Id="Rd9f25eb5ce804959" /><Relationship Type="http://schemas.openxmlformats.org/officeDocument/2006/relationships/notesSlide" Target="/ppt/notesSlides/notesSlide8.xml" Id="R364ca01fbf2f4b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1d9c07ac14a16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e20cd37354eda"/>
          <a:stretch xmlns:a="http://schemas.openxmlformats.org/drawingml/2006/main"/>
        </p:blipFill>
        <p:spPr>
          <a:xfrm xmlns:a="http://schemas.openxmlformats.org/drawingml/2006/main">
            <a:off x="571500" y="4953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" name="QwertyS  /  LOCUS 2026">
            <a:extLst xmlns:a="http://schemas.openxmlformats.org/drawingml/2006/main">
              <a:ext uri="{FF2B5EF4-FFF2-40B4-BE49-F238E27FC236}">
                <a16:creationId xmlns:a16="http://schemas.microsoft.com/office/drawing/2014/main" id="{213B4EF2-17F3-44A3-A2B4-92830951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1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1F4B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B1F4B"/>
                </a:solidFill>
                <a:latin typeface="Onest"/>
                <a:ea typeface="Onest"/>
                <a:cs typeface="Onest"/>
              </a:rPr>
              <a:t>QwertyS  /  LOCUS 2026</a:t>
            </a:r>
          </a:p>
        </p:txBody>
      </p:sp>
      <p:sp>
        <p:nvSpPr>
          <p:cNvPr id="4" name="CampusLense">
            <a:extLst xmlns:a="http://schemas.openxmlformats.org/drawingml/2006/main">
              <a:ext uri="{FF2B5EF4-FFF2-40B4-BE49-F238E27FC236}">
                <a16:creationId xmlns:a16="http://schemas.microsoft.com/office/drawing/2014/main" id="{6224A082-FE42-4E5D-8D4F-0D894F58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09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63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CampusLense</a:t>
            </a:r>
          </a:p>
        </p:txBody>
      </p:sp>
      <p:sp>
        <p:nvSpPr>
          <p:cNvPr id="5" name="Университет&#10;глазами студента">
            <a:extLst xmlns:a="http://schemas.openxmlformats.org/drawingml/2006/main">
              <a:ext uri="{FF2B5EF4-FFF2-40B4-BE49-F238E27FC236}">
                <a16:creationId xmlns:a16="http://schemas.microsoft.com/office/drawing/2014/main" id="{E296489D-5916-44EF-A4C3-F83691C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52750"/>
            <a:ext cx="63341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Университет</a:t>
            </a:r>
          </a:p>
          <a:p xmlns:a="http://schemas.openxmlformats.org/drawingml/2006/main">
            <a:pPr>
              <a:defRPr sz="36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глазами студента</a:t>
            </a:r>
          </a:p>
        </p:txBody>
      </p:sp>
      <p:sp>
        <p:nvSpPr>
          <p:cNvPr id="6" name="Проверенные фото, 3D-кампус&#10;и условия жизни — в одном сервис">
            <a:extLst xmlns:a="http://schemas.openxmlformats.org/drawingml/2006/main">
              <a:ext uri="{FF2B5EF4-FFF2-40B4-BE49-F238E27FC236}">
                <a16:creationId xmlns:a16="http://schemas.microsoft.com/office/drawing/2014/main" id="{78725340-43C6-4093-AAF0-17514B3E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10075"/>
            <a:ext cx="623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Проверенные фото, 3D-кампус</a:t>
            </a:r>
          </a:p>
          <a:p xmlns:a="http://schemas.openxmlformats.org/drawingml/2006/main">
            <a:pPr>
              <a:defRPr sz="19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условия жизни — в одном сервисе</a:t>
            </a:r>
          </a:p>
        </p:txBody>
      </p:sp>
      <p:sp>
        <p:nvSpPr>
          <p:cNvPr id="7" name="14 467">
            <a:extLst xmlns:a="http://schemas.openxmlformats.org/drawingml/2006/main">
              <a:ext uri="{FF2B5EF4-FFF2-40B4-BE49-F238E27FC236}">
                <a16:creationId xmlns:a16="http://schemas.microsoft.com/office/drawing/2014/main" id="{17B4A3AC-E8E6-4A40-A1E9-EC3186E8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435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390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14 467</a:t>
            </a:r>
          </a:p>
        </p:txBody>
      </p:sp>
      <p:sp>
        <p:nvSpPr>
          <p:cNvPr id="8" name="вузов в поисковом индексе">
            <a:extLst xmlns:a="http://schemas.openxmlformats.org/drawingml/2006/main">
              <a:ext uri="{FF2B5EF4-FFF2-40B4-BE49-F238E27FC236}">
                <a16:creationId xmlns:a16="http://schemas.microsoft.com/office/drawing/2014/main" id="{B251A1A3-CD59-4B9B-AEBD-7A70E65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00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вузов в поисковом индексе</a:t>
            </a:r>
          </a:p>
        </p:txBody>
      </p:sp>
      <p:sp>
        <p:nvSpPr>
          <p:cNvPr id="9" name="20+">
            <a:extLst xmlns:a="http://schemas.openxmlformats.org/drawingml/2006/main">
              <a:ext uri="{FF2B5EF4-FFF2-40B4-BE49-F238E27FC236}">
                <a16:creationId xmlns:a16="http://schemas.microsoft.com/office/drawing/2014/main" id="{AE8F56D3-ADC0-4961-80FE-20BC54D0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3435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390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20+</a:t>
            </a:r>
          </a:p>
        </p:txBody>
      </p:sp>
      <p:sp>
        <p:nvSpPr>
          <p:cNvPr id="10" name="каналов сбора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99E20C90-BE10-4A73-853D-DEDBD234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00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каналов сбора 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908577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33f5e5b5a4568"/>
          <a:srcRect xmlns:a="http://schemas.openxmlformats.org/drawingml/2006/main" l="0" t="3347" r="0" b="3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3625" y="1847850"/>
            <a:ext cx="2238375" cy="4343400"/>
          </a:xfrm>
          <a:prstGeom xmlns:a="http://schemas.openxmlformats.org/drawingml/2006/main" prst="rect">
            <a:avLst/>
          </a:prstGeom>
        </p:spPr>
      </p:pic>
      <p:sp>
        <p:nvSpPr>
          <p:cNvPr id="2" name="Проблема: фотографии без контекста">
            <a:extLst xmlns:a="http://schemas.openxmlformats.org/drawingml/2006/main">
              <a:ext uri="{FF2B5EF4-FFF2-40B4-BE49-F238E27FC236}">
                <a16:creationId xmlns:a16="http://schemas.microsoft.com/office/drawing/2014/main" id="{F3118E4E-7B17-4C90-A59A-1970FAC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Проблема: фотографии без контекста</a:t>
            </a:r>
          </a:p>
        </p:txBody>
      </p:sp>
      <p:sp>
        <p:nvSpPr>
          <p:cNvPr id="3" name="CampusLense · QwertyS">
            <a:extLst xmlns:a="http://schemas.openxmlformats.org/drawingml/2006/main">
              <a:ext uri="{FF2B5EF4-FFF2-40B4-BE49-F238E27FC236}">
                <a16:creationId xmlns:a16="http://schemas.microsoft.com/office/drawing/2014/main" id="{5DA6EFA7-215B-4452-B6F9-0A937BA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1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CampusLense · QwertyS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816A9052-4226-45B5-BE29-912769B3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5" name="Абитуриенту важно увидеть, где он будет учиться и жить">
            <a:extLst xmlns:a="http://schemas.openxmlformats.org/drawingml/2006/main">
              <a:ext uri="{FF2B5EF4-FFF2-40B4-BE49-F238E27FC236}">
                <a16:creationId xmlns:a16="http://schemas.microsoft.com/office/drawing/2014/main" id="{C54DACC6-B5CB-4870-AE42-57379080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Абитуриенту важно увидеть, где он будет учиться и жить</a:t>
            </a:r>
          </a:p>
        </p:txBody>
      </p:sp>
      <p:sp>
        <p:nvSpPr>
          <p:cNvPr id="6" name="Разбросаны">
            <a:extLst xmlns:a="http://schemas.openxmlformats.org/drawingml/2006/main">
              <a:ext uri="{FF2B5EF4-FFF2-40B4-BE49-F238E27FC236}">
                <a16:creationId xmlns:a16="http://schemas.microsoft.com/office/drawing/2014/main" id="{187B4AF7-E29E-4EBE-8C5B-B85D534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Разбросаны</a:t>
            </a:r>
          </a:p>
        </p:txBody>
      </p:sp>
      <p:sp>
        <p:nvSpPr>
          <p:cNvPr id="7" name="Сайт вуза, карты и соцсети&#10;приходится проверять отдельно">
            <a:extLst xmlns:a="http://schemas.openxmlformats.org/drawingml/2006/main">
              <a:ext uri="{FF2B5EF4-FFF2-40B4-BE49-F238E27FC236}">
                <a16:creationId xmlns:a16="http://schemas.microsoft.com/office/drawing/2014/main" id="{37FAB824-4B08-4A24-B241-39E4F81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3876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Сайт вуза, карты и соцсети</a:t>
            </a:r>
          </a:p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приходится проверять отдельно</a:t>
            </a:r>
          </a:p>
        </p:txBody>
      </p:sp>
      <p:sp>
        <p:nvSpPr>
          <p:cNvPr id="8" name="Повторяются">
            <a:extLst xmlns:a="http://schemas.openxmlformats.org/drawingml/2006/main">
              <a:ext uri="{FF2B5EF4-FFF2-40B4-BE49-F238E27FC236}">
                <a16:creationId xmlns:a16="http://schemas.microsoft.com/office/drawing/2014/main" id="{9344BAE1-6661-4E06-9410-A0C382A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Повторяются</a:t>
            </a:r>
          </a:p>
        </p:txBody>
      </p:sp>
      <p:sp>
        <p:nvSpPr>
          <p:cNvPr id="9" name="Дубли, старые кадры&#10;и снимки другого кампуса">
            <a:extLst xmlns:a="http://schemas.openxmlformats.org/drawingml/2006/main">
              <a:ext uri="{FF2B5EF4-FFF2-40B4-BE49-F238E27FC236}">
                <a16:creationId xmlns:a16="http://schemas.microsoft.com/office/drawing/2014/main" id="{EDC1B3EC-BC3D-434F-A164-8A7FD28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3876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Дубли, старые кадры</a:t>
            </a:r>
          </a:p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снимки другого кампуса</a:t>
            </a:r>
          </a:p>
        </p:txBody>
      </p:sp>
      <p:sp>
        <p:nvSpPr>
          <p:cNvPr id="10" name="Нуждаются в проверке">
            <a:extLst xmlns:a="http://schemas.openxmlformats.org/drawingml/2006/main">
              <a:ext uri="{FF2B5EF4-FFF2-40B4-BE49-F238E27FC236}">
                <a16:creationId xmlns:a16="http://schemas.microsoft.com/office/drawing/2014/main" id="{C41248D7-FC02-43B1-BFA0-23141B2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Нуждаются в проверке</a:t>
            </a:r>
          </a:p>
        </p:txBody>
      </p:sp>
      <p:sp>
        <p:nvSpPr>
          <p:cNvPr id="11" name="Важно знать источник, дату&#10;и связь фотографии с вузом">
            <a:extLst xmlns:a="http://schemas.openxmlformats.org/drawingml/2006/main">
              <a:ext uri="{FF2B5EF4-FFF2-40B4-BE49-F238E27FC236}">
                <a16:creationId xmlns:a16="http://schemas.microsoft.com/office/drawing/2014/main" id="{497391F6-6342-4F42-A77E-1C504EC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3876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Важно знать источник, дату</a:t>
            </a:r>
          </a:p>
          <a:p xmlns:a="http://schemas.openxmlformats.org/drawingml/2006/main">
            <a:pPr>
              <a:defRPr sz="16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связь фотографии с вузом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ee5259e8742be"/>
          <a:stretch xmlns:a="http://schemas.openxmlformats.org/drawingml/2006/main"/>
        </p:blipFill>
        <p:spPr>
          <a:xfrm xmlns:a="http://schemas.openxmlformats.org/drawingml/2006/main">
            <a:off x="4678090" y="2009775"/>
            <a:ext cx="4864646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8 категорий + фильтры">
            <a:extLst xmlns:a="http://schemas.openxmlformats.org/drawingml/2006/main">
              <a:ext uri="{FF2B5EF4-FFF2-40B4-BE49-F238E27FC236}">
                <a16:creationId xmlns:a16="http://schemas.microsoft.com/office/drawing/2014/main" id="{057E472D-3822-48A8-9E23-77F19C3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78167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8 категорий + фильтры</a:t>
            </a:r>
          </a:p>
        </p:txBody>
      </p:sp>
      <p:sp>
        <p:nvSpPr>
          <p:cNvPr id="14" name="Кампус · общежитие · аудитории · библиотека · лаборатории · ">
            <a:extLst xmlns:a="http://schemas.openxmlformats.org/drawingml/2006/main">
              <a:ext uri="{FF2B5EF4-FFF2-40B4-BE49-F238E27FC236}">
                <a16:creationId xmlns:a16="http://schemas.microsoft.com/office/drawing/2014/main" id="{5F6C48F2-A608-4EB8-8B62-97CB5D4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Кампус · общежитие · аудитории · библиотека · лаборатории · спорт · студенческая жизнь · город</a:t>
            </a:r>
          </a:p>
        </p:txBody>
      </p:sp>
    </p:spTree>
    <p:extLst>
      <p:ext uri="{BB962C8B-B14F-4D97-AF65-F5344CB8AC3E}">
        <p14:creationId xmlns:p14="http://schemas.microsoft.com/office/powerpoint/2010/main" val="218389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9350baf804e04"/>
          <a:srcRect xmlns:a="http://schemas.openxmlformats.org/drawingml/2006/main" l="0" t="7109" r="0" b="7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8675" y="5676900"/>
            <a:ext cx="3743325" cy="1181100"/>
          </a:xfrm>
          <a:prstGeom xmlns:a="http://schemas.openxmlformats.org/drawingml/2006/main" prst="rect">
            <a:avLst/>
          </a:prstGeom>
        </p:spPr>
      </p:pic>
      <p:sp>
        <p:nvSpPr>
          <p:cNvPr id="2" name="3D-карта: кампус и город вокруг">
            <a:extLst xmlns:a="http://schemas.openxmlformats.org/drawingml/2006/main">
              <a:ext uri="{FF2B5EF4-FFF2-40B4-BE49-F238E27FC236}">
                <a16:creationId xmlns:a16="http://schemas.microsoft.com/office/drawing/2014/main" id="{71C43B22-C064-4938-B2CB-D35E7AE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3D-карта: кампус и город вокруг</a:t>
            </a:r>
          </a:p>
        </p:txBody>
      </p:sp>
      <p:sp>
        <p:nvSpPr>
          <p:cNvPr id="3" name="CampusLense · QwertyS">
            <a:extLst xmlns:a="http://schemas.openxmlformats.org/drawingml/2006/main">
              <a:ext uri="{FF2B5EF4-FFF2-40B4-BE49-F238E27FC236}">
                <a16:creationId xmlns:a16="http://schemas.microsoft.com/office/drawing/2014/main" id="{E74F6E86-BC21-4FE7-B502-A483CE5C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1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CampusLense · QwertyS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71BC5E9C-D90E-43D2-BF22-2C80E434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5" name="Планета → перелёт сквозь облака → фотореалистичный кампус">
            <a:extLst xmlns:a="http://schemas.openxmlformats.org/drawingml/2006/main">
              <a:ext uri="{FF2B5EF4-FFF2-40B4-BE49-F238E27FC236}">
                <a16:creationId xmlns:a16="http://schemas.microsoft.com/office/drawing/2014/main" id="{C3302459-9D85-4E5C-9626-ED175F92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Планета → перелёт сквозь облака → фотореалистичный кампус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061b319d44737"/>
          <a:stretch xmlns:a="http://schemas.openxmlformats.org/drawingml/2006/main"/>
        </p:blipFill>
        <p:spPr>
          <a:xfrm xmlns:a="http://schemas.openxmlformats.org/drawingml/2006/main">
            <a:off x="571500" y="1953320"/>
            <a:ext cx="6943725" cy="3646685"/>
          </a:xfrm>
          <a:prstGeom xmlns:a="http://schemas.openxmlformats.org/drawingml/2006/main" prst="rect">
            <a:avLst/>
          </a:prstGeom>
        </p:spPr>
      </p:pic>
      <p:sp>
        <p:nvSpPr>
          <p:cNvPr id="7" name="Корпуса и общежития">
            <a:extLst xmlns:a="http://schemas.openxmlformats.org/drawingml/2006/main">
              <a:ext uri="{FF2B5EF4-FFF2-40B4-BE49-F238E27FC236}">
                <a16:creationId xmlns:a16="http://schemas.microsoft.com/office/drawing/2014/main" id="{8633470F-F7DA-4AED-BD53-02E52B5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3743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Корпуса и общежития</a:t>
            </a:r>
          </a:p>
        </p:txBody>
      </p:sp>
      <p:sp>
        <p:nvSpPr>
          <p:cNvPr id="8" name="Контуры зданий и слои из OSM">
            <a:extLst xmlns:a="http://schemas.openxmlformats.org/drawingml/2006/main">
              <a:ext uri="{FF2B5EF4-FFF2-40B4-BE49-F238E27FC236}">
                <a16:creationId xmlns:a16="http://schemas.microsoft.com/office/drawing/2014/main" id="{23350714-3084-4579-9E06-05B91BC9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19350"/>
            <a:ext cx="3724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Контуры зданий и слои из OSM</a:t>
            </a:r>
          </a:p>
        </p:txBody>
      </p:sp>
      <p:sp>
        <p:nvSpPr>
          <p:cNvPr id="9" name="Город и маршруты">
            <a:extLst xmlns:a="http://schemas.openxmlformats.org/drawingml/2006/main">
              <a:ext uri="{FF2B5EF4-FFF2-40B4-BE49-F238E27FC236}">
                <a16:creationId xmlns:a16="http://schemas.microsoft.com/office/drawing/2014/main" id="{F02994C0-E26A-4B5C-8447-E839FFA0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81350"/>
            <a:ext cx="3743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Город и маршруты</a:t>
            </a:r>
          </a:p>
        </p:txBody>
      </p:sp>
      <p:sp>
        <p:nvSpPr>
          <p:cNvPr id="10" name="Места рядом — Places API&#10;Маршрут до центра — Routes API">
            <a:extLst xmlns:a="http://schemas.openxmlformats.org/drawingml/2006/main">
              <a:ext uri="{FF2B5EF4-FFF2-40B4-BE49-F238E27FC236}">
                <a16:creationId xmlns:a16="http://schemas.microsoft.com/office/drawing/2014/main" id="{535157B9-C362-44A4-9B67-BB9F0AEF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90925"/>
            <a:ext cx="3724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Места рядом — Places API</a:t>
            </a:r>
          </a:p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Маршрут до центра — Routes API</a:t>
            </a:r>
          </a:p>
        </p:txBody>
      </p:sp>
      <p:sp>
        <p:nvSpPr>
          <p:cNvPr id="11" name="Прогулка по кампусу">
            <a:extLst xmlns:a="http://schemas.openxmlformats.org/drawingml/2006/main">
              <a:ext uri="{FF2B5EF4-FFF2-40B4-BE49-F238E27FC236}">
                <a16:creationId xmlns:a16="http://schemas.microsoft.com/office/drawing/2014/main" id="{26A8918A-AF82-411C-B9D4-7FC0C58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52925"/>
            <a:ext cx="3743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Прогулка по кампусу</a:t>
            </a:r>
          </a:p>
        </p:txBody>
      </p:sp>
      <p:sp>
        <p:nvSpPr>
          <p:cNvPr id="12" name="Street View: улицы и интерьеры&#10;там, где есть панорамы">
            <a:extLst xmlns:a="http://schemas.openxmlformats.org/drawingml/2006/main">
              <a:ext uri="{FF2B5EF4-FFF2-40B4-BE49-F238E27FC236}">
                <a16:creationId xmlns:a16="http://schemas.microsoft.com/office/drawing/2014/main" id="{FA333657-631D-4A9B-97A8-B5A6306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62500"/>
            <a:ext cx="3724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Street View: улицы и интерьеры</a:t>
            </a:r>
          </a:p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там, где есть панорамы</a:t>
            </a:r>
          </a:p>
        </p:txBody>
      </p:sp>
      <p:sp>
        <p:nvSpPr>
          <p:cNvPr id="13" name="Google Maps 3D + OpenStreetMap">
            <a:extLst xmlns:a="http://schemas.openxmlformats.org/drawingml/2006/main">
              <a:ext uri="{FF2B5EF4-FFF2-40B4-BE49-F238E27FC236}">
                <a16:creationId xmlns:a16="http://schemas.microsoft.com/office/drawing/2014/main" id="{2249C88A-DE83-411D-B28E-680C409A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7553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80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Google Maps 3D + OpenStreetMap</a:t>
            </a:r>
          </a:p>
        </p:txBody>
      </p:sp>
      <p:sp>
        <p:nvSpPr>
          <p:cNvPr id="14" name="Если 3D недоступно: объёмные здания OSM в MapLibre">
            <a:extLst xmlns:a="http://schemas.openxmlformats.org/drawingml/2006/main">
              <a:ext uri="{FF2B5EF4-FFF2-40B4-BE49-F238E27FC236}">
                <a16:creationId xmlns:a16="http://schemas.microsoft.com/office/drawing/2014/main" id="{D8AE7468-C9D9-4DD8-8F2A-466F2B3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7648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Если 3D недоступно: объёмные здания OSM в MapLibre</a:t>
            </a:r>
          </a:p>
        </p:txBody>
      </p:sp>
    </p:spTree>
    <p:extLst>
      <p:ext uri="{BB962C8B-B14F-4D97-AF65-F5344CB8AC3E}">
        <p14:creationId xmlns:p14="http://schemas.microsoft.com/office/powerpoint/2010/main" val="689887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86ede31f7443a"/>
          <a:srcRect xmlns:a="http://schemas.openxmlformats.org/drawingml/2006/main" l="0" t="25813" r="0" b="25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267325"/>
            <a:ext cx="1581150" cy="1590675"/>
          </a:xfrm>
          <a:prstGeom xmlns:a="http://schemas.openxmlformats.org/drawingml/2006/main" prst="rect">
            <a:avLst/>
          </a:prstGeom>
        </p:spPr>
      </p:pic>
      <p:sp>
        <p:nvSpPr>
          <p:cNvPr id="2" name="20+ каналов: как собираются материалы">
            <a:extLst xmlns:a="http://schemas.openxmlformats.org/drawingml/2006/main">
              <a:ext uri="{FF2B5EF4-FFF2-40B4-BE49-F238E27FC236}">
                <a16:creationId xmlns:a16="http://schemas.microsoft.com/office/drawing/2014/main" id="{549A830A-F476-4FEE-9CC0-00AE7A3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20+ каналов: как собираются материалы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6AD03BF8-4B2A-4A41-AA26-D301E99D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04</a:t>
            </a:r>
          </a:p>
        </p:txBody>
      </p:sp>
      <p:sp>
        <p:nvSpPr>
          <p:cNvPr id="4" name="Сначала определяем вуз: индекс → Wikidata → OSM / Google Map">
            <a:extLst xmlns:a="http://schemas.openxmlformats.org/drawingml/2006/main">
              <a:ext uri="{FF2B5EF4-FFF2-40B4-BE49-F238E27FC236}">
                <a16:creationId xmlns:a16="http://schemas.microsoft.com/office/drawing/2014/main" id="{C4A4586E-A6CF-437C-94B8-486FFB29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Сначала определяем вуз: индекс → Wikidata → OSM / Google Maps</a:t>
            </a:r>
          </a:p>
        </p:txBody>
      </p:sp>
      <p:sp>
        <p:nvSpPr>
          <p:cNvPr id="5" name="Официальные">
            <a:extLst xmlns:a="http://schemas.openxmlformats.org/drawingml/2006/main">
              <a:ext uri="{FF2B5EF4-FFF2-40B4-BE49-F238E27FC236}">
                <a16:creationId xmlns:a16="http://schemas.microsoft.com/office/drawing/2014/main" id="{AAC57545-6EB4-4D3D-B43E-5B3E8F83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Официальные</a:t>
            </a:r>
          </a:p>
        </p:txBody>
      </p:sp>
      <p:sp>
        <p:nvSpPr>
          <p:cNvPr id="6" name="Сайт университета&#10;Wikipedia · Commons">
            <a:extLst xmlns:a="http://schemas.openxmlformats.org/drawingml/2006/main">
              <a:ext uri="{FF2B5EF4-FFF2-40B4-BE49-F238E27FC236}">
                <a16:creationId xmlns:a16="http://schemas.microsoft.com/office/drawing/2014/main" id="{0181E6FF-4445-4E4F-BCBB-7BCEDE8B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Сайт университета</a:t>
            </a:r>
          </a:p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Wikipedia · Commons</a:t>
            </a:r>
          </a:p>
        </p:txBody>
      </p:sp>
      <p:sp>
        <p:nvSpPr>
          <p:cNvPr id="7" name="Фото, подписи, авторы&#10;и лицензии">
            <a:extLst xmlns:a="http://schemas.openxmlformats.org/drawingml/2006/main">
              <a:ext uri="{FF2B5EF4-FFF2-40B4-BE49-F238E27FC236}">
                <a16:creationId xmlns:a16="http://schemas.microsoft.com/office/drawing/2014/main" id="{5802EFC1-5843-4049-BCFA-D98F4A77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619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Фото, подписи, авторы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лицензии</a:t>
            </a:r>
          </a:p>
        </p:txBody>
      </p:sp>
      <p:sp>
        <p:nvSpPr>
          <p:cNvPr id="8" name="Поиск и карты">
            <a:extLst xmlns:a="http://schemas.openxmlformats.org/drawingml/2006/main">
              <a:ext uri="{FF2B5EF4-FFF2-40B4-BE49-F238E27FC236}">
                <a16:creationId xmlns:a16="http://schemas.microsoft.com/office/drawing/2014/main" id="{9280CEAC-B374-45FC-9C67-6BD48A9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28825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Поиск и карты</a:t>
            </a:r>
          </a:p>
        </p:txBody>
      </p:sp>
      <p:sp>
        <p:nvSpPr>
          <p:cNvPr id="9" name="Serper · Google Places">
            <a:extLst xmlns:a="http://schemas.openxmlformats.org/drawingml/2006/main">
              <a:ext uri="{FF2B5EF4-FFF2-40B4-BE49-F238E27FC236}">
                <a16:creationId xmlns:a16="http://schemas.microsoft.com/office/drawing/2014/main" id="{8CA7E8DB-811E-4AC6-BB5D-ECB2742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669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Serper · Google Places</a:t>
            </a:r>
          </a:p>
        </p:txBody>
      </p:sp>
      <p:sp>
        <p:nvSpPr>
          <p:cNvPr id="10" name="Google Images, фото мест&#10;и отзывы с фотографиями">
            <a:extLst xmlns:a="http://schemas.openxmlformats.org/drawingml/2006/main">
              <a:ext uri="{FF2B5EF4-FFF2-40B4-BE49-F238E27FC236}">
                <a16:creationId xmlns:a16="http://schemas.microsoft.com/office/drawing/2014/main" id="{7F339C8E-B17E-481D-A72B-2B5067E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90875"/>
            <a:ext cx="2619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Google Images, фото мест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отзывы с фотографиями</a:t>
            </a:r>
          </a:p>
        </p:txBody>
      </p:sp>
      <p:sp>
        <p:nvSpPr>
          <p:cNvPr id="11" name="Социальные сети">
            <a:extLst xmlns:a="http://schemas.openxmlformats.org/drawingml/2006/main">
              <a:ext uri="{FF2B5EF4-FFF2-40B4-BE49-F238E27FC236}">
                <a16:creationId xmlns:a16="http://schemas.microsoft.com/office/drawing/2014/main" id="{6EBCDBB2-A9C5-47C4-A8A1-B25C3F4D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Социальные сети</a:t>
            </a:r>
          </a:p>
        </p:txBody>
      </p:sp>
      <p:sp>
        <p:nvSpPr>
          <p:cNvPr id="12" name="ScrapeCreators · YouTube&#10;VK API · Telegram">
            <a:extLst xmlns:a="http://schemas.openxmlformats.org/drawingml/2006/main">
              <a:ext uri="{FF2B5EF4-FFF2-40B4-BE49-F238E27FC236}">
                <a16:creationId xmlns:a16="http://schemas.microsoft.com/office/drawing/2014/main" id="{2B8BDBA1-BCED-4B43-9B98-642B051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669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ScrapeCreators · YouTube</a:t>
            </a:r>
          </a:p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VK API · Telegram</a:t>
            </a:r>
          </a:p>
        </p:txBody>
      </p:sp>
      <p:sp>
        <p:nvSpPr>
          <p:cNvPr id="13" name="Instagram, TikTok, посты&#10;и кадры из видео">
            <a:extLst xmlns:a="http://schemas.openxmlformats.org/drawingml/2006/main">
              <a:ext uri="{FF2B5EF4-FFF2-40B4-BE49-F238E27FC236}">
                <a16:creationId xmlns:a16="http://schemas.microsoft.com/office/drawing/2014/main" id="{A44A602C-B51B-40BC-8CFD-8EAF4D29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90875"/>
            <a:ext cx="2619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Instagram, TikTok, посты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кадры из видео</a:t>
            </a:r>
          </a:p>
        </p:txBody>
      </p:sp>
      <p:sp>
        <p:nvSpPr>
          <p:cNvPr id="14" name="Геоисточники">
            <a:extLst xmlns:a="http://schemas.openxmlformats.org/drawingml/2006/main">
              <a:ext uri="{FF2B5EF4-FFF2-40B4-BE49-F238E27FC236}">
                <a16:creationId xmlns:a16="http://schemas.microsoft.com/office/drawing/2014/main" id="{C01E40B5-79A1-4311-BA87-F6698757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28825"/>
            <a:ext cx="2628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02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Геоисточники</a:t>
            </a:r>
          </a:p>
        </p:txBody>
      </p:sp>
      <p:sp>
        <p:nvSpPr>
          <p:cNvPr id="15" name="Overpass · Mapillary&#10;Openverse / Flickr">
            <a:extLst xmlns:a="http://schemas.openxmlformats.org/drawingml/2006/main">
              <a:ext uri="{FF2B5EF4-FFF2-40B4-BE49-F238E27FC236}">
                <a16:creationId xmlns:a16="http://schemas.microsoft.com/office/drawing/2014/main" id="{43F01C11-E374-444E-9088-FD63D269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669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Overpass · Mapillary</a:t>
            </a:r>
          </a:p>
          <a:p xmlns:a="http://schemas.openxmlformats.org/drawingml/2006/main">
            <a:pPr>
              <a:defRPr sz="15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Openverse / Flickr</a:t>
            </a:r>
          </a:p>
        </p:txBody>
      </p:sp>
      <p:sp>
        <p:nvSpPr>
          <p:cNvPr id="16" name="Границы кампуса&#10;и фотографии с геометкой">
            <a:extLst xmlns:a="http://schemas.openxmlformats.org/drawingml/2006/main">
              <a:ext uri="{FF2B5EF4-FFF2-40B4-BE49-F238E27FC236}">
                <a16:creationId xmlns:a16="http://schemas.microsoft.com/office/drawing/2014/main" id="{B782456C-9E02-4374-B29B-EB7B510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90875"/>
            <a:ext cx="2619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Границы кампуса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фотографии с геометкой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D62E0-23FD-4382-B68B-37D78EF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6EF"/>
            </a:solidFill>
          </a:ln>
        </p:spPr>
      </p:sp>
      <p:sp>
        <p:nvSpPr>
          <p:cNvPr id="18" name="Параллельный сбор">
            <a:extLst xmlns:a="http://schemas.openxmlformats.org/drawingml/2006/main">
              <a:ext uri="{FF2B5EF4-FFF2-40B4-BE49-F238E27FC236}">
                <a16:creationId xmlns:a16="http://schemas.microsoft.com/office/drawing/2014/main" id="{66298C8E-EB05-4679-AE77-5A6D3EDB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Параллельный сбор</a:t>
            </a:r>
          </a:p>
        </p:txBody>
      </p:sp>
      <p:sp>
        <p:nvSpPr>
          <p:cNvPr id="19" name="asyncio + таймауты">
            <a:extLst xmlns:a="http://schemas.openxmlformats.org/drawingml/2006/main">
              <a:ext uri="{FF2B5EF4-FFF2-40B4-BE49-F238E27FC236}">
                <a16:creationId xmlns:a16="http://schemas.microsoft.com/office/drawing/2014/main" id="{25D3A4FA-2044-45ED-B514-C14E118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asyncio + таймауты</a:t>
            </a:r>
          </a:p>
        </p:txBody>
      </p:sp>
      <p:sp>
        <p:nvSpPr>
          <p:cNvPr id="20" name="→">
            <a:extLst xmlns:a="http://schemas.openxmlformats.org/drawingml/2006/main">
              <a:ext uri="{FF2B5EF4-FFF2-40B4-BE49-F238E27FC236}">
                <a16:creationId xmlns:a16="http://schemas.microsoft.com/office/drawing/2014/main" id="{2C777DF0-CFDD-4707-8609-50051075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410075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1" name="Подготовка">
            <a:extLst xmlns:a="http://schemas.openxmlformats.org/drawingml/2006/main">
              <a:ext uri="{FF2B5EF4-FFF2-40B4-BE49-F238E27FC236}">
                <a16:creationId xmlns:a16="http://schemas.microsoft.com/office/drawing/2014/main" id="{25546347-A295-4E44-9DEE-9852C39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14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Подготовка</a:t>
            </a:r>
          </a:p>
        </p:txBody>
      </p:sp>
      <p:sp>
        <p:nvSpPr>
          <p:cNvPr id="22" name="метаданные · ffmpeg">
            <a:extLst xmlns:a="http://schemas.openxmlformats.org/drawingml/2006/main">
              <a:ext uri="{FF2B5EF4-FFF2-40B4-BE49-F238E27FC236}">
                <a16:creationId xmlns:a16="http://schemas.microsoft.com/office/drawing/2014/main" id="{70C91C73-A1CF-45D5-B8EA-9267796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43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метаданные · ffmpeg</a:t>
            </a:r>
          </a:p>
        </p:txBody>
      </p:sp>
      <p:sp>
        <p:nvSpPr>
          <p:cNvPr id="23" name="→">
            <a:extLst xmlns:a="http://schemas.openxmlformats.org/drawingml/2006/main">
              <a:ext uri="{FF2B5EF4-FFF2-40B4-BE49-F238E27FC236}">
                <a16:creationId xmlns:a16="http://schemas.microsoft.com/office/drawing/2014/main" id="{8DD057AE-D335-47F9-986A-0183D1C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10075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4" name="Проверка и отбор">
            <a:extLst xmlns:a="http://schemas.openxmlformats.org/drawingml/2006/main">
              <a:ext uri="{FF2B5EF4-FFF2-40B4-BE49-F238E27FC236}">
                <a16:creationId xmlns:a16="http://schemas.microsoft.com/office/drawing/2014/main" id="{CB6EE5A6-E8A1-40E0-AD58-CD73F49D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Проверка и отбор</a:t>
            </a:r>
          </a:p>
        </p:txBody>
      </p:sp>
      <p:sp>
        <p:nvSpPr>
          <p:cNvPr id="25" name="Gemini · CLIP · дубли">
            <a:extLst xmlns:a="http://schemas.openxmlformats.org/drawingml/2006/main">
              <a:ext uri="{FF2B5EF4-FFF2-40B4-BE49-F238E27FC236}">
                <a16:creationId xmlns:a16="http://schemas.microsoft.com/office/drawing/2014/main" id="{EF92BD48-1CAE-4991-8300-45FD6A1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43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Gemini · CLIP · дубли</a:t>
            </a:r>
          </a:p>
        </p:txBody>
      </p:sp>
      <p:sp>
        <p:nvSpPr>
          <p:cNvPr id="26" name="→">
            <a:extLst xmlns:a="http://schemas.openxmlformats.org/drawingml/2006/main">
              <a:ext uri="{FF2B5EF4-FFF2-40B4-BE49-F238E27FC236}">
                <a16:creationId xmlns:a16="http://schemas.microsoft.com/office/drawing/2014/main" id="{DC8277EC-2E57-40FE-B37F-20824A2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10075"/>
            <a:ext cx="276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→</a:t>
            </a:r>
          </a:p>
        </p:txBody>
      </p:sp>
      <p:sp>
        <p:nvSpPr>
          <p:cNvPr id="27" name="Профиль">
            <a:extLst xmlns:a="http://schemas.openxmlformats.org/drawingml/2006/main">
              <a:ext uri="{FF2B5EF4-FFF2-40B4-BE49-F238E27FC236}">
                <a16:creationId xmlns:a16="http://schemas.microsoft.com/office/drawing/2014/main" id="{D04D6AA5-1C2B-443D-9286-B561113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14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Профиль</a:t>
            </a:r>
          </a:p>
        </p:txBody>
      </p:sp>
      <p:sp>
        <p:nvSpPr>
          <p:cNvPr id="28" name="SSE → React">
            <a:extLst xmlns:a="http://schemas.openxmlformats.org/drawingml/2006/main">
              <a:ext uri="{FF2B5EF4-FFF2-40B4-BE49-F238E27FC236}">
                <a16:creationId xmlns:a16="http://schemas.microsoft.com/office/drawing/2014/main" id="{4DC96154-8E20-4815-8D34-692DB1A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43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SSE → React</a:t>
            </a:r>
          </a:p>
        </p:txBody>
      </p:sp>
      <p:sp>
        <p:nvSpPr>
          <p:cNvPr id="29" name="≈22–24 с">
            <a:extLst xmlns:a="http://schemas.openxmlformats.org/drawingml/2006/main">
              <a:ext uri="{FF2B5EF4-FFF2-40B4-BE49-F238E27FC236}">
                <a16:creationId xmlns:a16="http://schemas.microsoft.com/office/drawing/2014/main" id="{ACFA0C0F-97FD-4140-BBD4-7CEA0B67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197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≈22–24 с</a:t>
            </a:r>
          </a:p>
        </p:txBody>
      </p:sp>
      <p:sp>
        <p:nvSpPr>
          <p:cNvPr id="30" name="до первого профиля по замерам проекта;&#10;остальные источники д">
            <a:extLst xmlns:a="http://schemas.openxmlformats.org/drawingml/2006/main">
              <a:ext uri="{FF2B5EF4-FFF2-40B4-BE49-F238E27FC236}">
                <a16:creationId xmlns:a16="http://schemas.microsoft.com/office/drawing/2014/main" id="{DA30F255-296C-49AD-AD61-0A9E4E43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53075"/>
            <a:ext cx="6657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до первого профиля по замерам проекта;</a:t>
            </a:r>
          </a:p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остальные источники дополняют его в фоне</a:t>
            </a:r>
          </a:p>
        </p:txBody>
      </p:sp>
      <p:sp>
        <p:nvSpPr>
          <p:cNvPr id="31" name="FastAPI · SQLite · кэш вердиктов · резерв Vertex AI → AI Stu">
            <a:extLst xmlns:a="http://schemas.openxmlformats.org/drawingml/2006/main">
              <a:ext uri="{FF2B5EF4-FFF2-40B4-BE49-F238E27FC236}">
                <a16:creationId xmlns:a16="http://schemas.microsoft.com/office/drawing/2014/main" id="{7AD7C248-7218-416E-84E5-9C32E6F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38875"/>
            <a:ext cx="954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0B0D12"/>
                </a:solidFill>
                <a:latin typeface="Onest"/>
                <a:ea typeface="Onest"/>
                <a:cs typeface="Onest"/>
              </a:rPr>
              <a:t>FastAPI · SQLite · кэш вердиктов · резерв Vertex AI → AI Studio</a:t>
            </a:r>
          </a:p>
        </p:txBody>
      </p:sp>
    </p:spTree>
    <p:extLst>
      <p:ext uri="{BB962C8B-B14F-4D97-AF65-F5344CB8AC3E}">
        <p14:creationId xmlns:p14="http://schemas.microsoft.com/office/powerpoint/2010/main" val="659427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4b10d78484912"/>
          <a:srcRect xmlns:a="http://schemas.openxmlformats.org/drawingml/2006/main" l="6531" t="0" r="65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810250"/>
            <a:ext cx="247650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Как фото проходит проверку">
            <a:extLst xmlns:a="http://schemas.openxmlformats.org/drawingml/2006/main">
              <a:ext uri="{FF2B5EF4-FFF2-40B4-BE49-F238E27FC236}">
                <a16:creationId xmlns:a16="http://schemas.microsoft.com/office/drawing/2014/main" id="{808F421E-85DA-47A2-860E-95CADBC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Как фото проходит проверку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B767C1DF-2B00-40C1-AD48-F9DBC838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05</a:t>
            </a:r>
          </a:p>
        </p:txBody>
      </p:sp>
      <p:sp>
        <p:nvSpPr>
          <p:cNvPr id="4" name="Несколько независимых сигналов и строгие правила отсева">
            <a:extLst xmlns:a="http://schemas.openxmlformats.org/drawingml/2006/main">
              <a:ext uri="{FF2B5EF4-FFF2-40B4-BE49-F238E27FC236}">
                <a16:creationId xmlns:a16="http://schemas.microsoft.com/office/drawing/2014/main" id="{6F04F773-AF72-4FCB-8135-A7CEE7D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Несколько независимых сигналов и строгие правила отсева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214779D-A412-4365-AD89-BBF82E6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6" name="Gemini сверяет фото с данными вуза">
            <a:extLst xmlns:a="http://schemas.openxmlformats.org/drawingml/2006/main">
              <a:ext uri="{FF2B5EF4-FFF2-40B4-BE49-F238E27FC236}">
                <a16:creationId xmlns:a16="http://schemas.microsoft.com/office/drawing/2014/main" id="{7D3627BA-436C-4A96-A67A-F9F7DE1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Gemini сверяет фото с данными вуза</a:t>
            </a:r>
          </a:p>
        </p:txBody>
      </p:sp>
      <p:sp>
        <p:nvSpPr>
          <p:cNvPr id="7" name="Эталон при наличии; место, категория и флаги">
            <a:extLst xmlns:a="http://schemas.openxmlformats.org/drawingml/2006/main">
              <a:ext uri="{FF2B5EF4-FFF2-40B4-BE49-F238E27FC236}">
                <a16:creationId xmlns:a16="http://schemas.microsoft.com/office/drawing/2014/main" id="{DEE03621-7C08-45B2-B998-21C89215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33625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Эталон при наличии; место, категория и флаги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41E63C17-CC02-4568-8773-14187AA5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9" name="Геометка + CLIP + подпись + источник">
            <a:extLst xmlns:a="http://schemas.openxmlformats.org/drawingml/2006/main">
              <a:ext uri="{FF2B5EF4-FFF2-40B4-BE49-F238E27FC236}">
                <a16:creationId xmlns:a16="http://schemas.microsoft.com/office/drawing/2014/main" id="{6593511B-6EFD-4EF3-86E8-8F70B6F6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Геометка + CLIP + подпись + источник</a:t>
            </a:r>
          </a:p>
        </p:txBody>
      </p:sp>
      <p:sp>
        <p:nvSpPr>
          <p:cNvPr id="10" name="Границы OSM, семантика, название вуза и дата">
            <a:extLst xmlns:a="http://schemas.openxmlformats.org/drawingml/2006/main">
              <a:ext uri="{FF2B5EF4-FFF2-40B4-BE49-F238E27FC236}">
                <a16:creationId xmlns:a16="http://schemas.microsoft.com/office/drawing/2014/main" id="{253D860B-8429-4992-B1BC-3D138FB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Границы OSM, семантика, название вуза и дата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9B02861B-144E-4075-8FA6-CCA048C9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57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12" name="Удаляем дубли и чужие изображения">
            <a:extLst xmlns:a="http://schemas.openxmlformats.org/drawingml/2006/main">
              <a:ext uri="{FF2B5EF4-FFF2-40B4-BE49-F238E27FC236}">
                <a16:creationId xmlns:a16="http://schemas.microsoft.com/office/drawing/2014/main" id="{11F2111F-1C9D-4DA4-B396-E8AAC4A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Удаляем дубли и чужие изображения</a:t>
            </a:r>
          </a:p>
        </p:txBody>
      </p:sp>
      <p:sp>
        <p:nvSpPr>
          <p:cNvPr id="13" name="SHA-1 · расстояние pHash ≤ 8 · CLIP ≥ 0,93">
            <a:extLst xmlns:a="http://schemas.openxmlformats.org/drawingml/2006/main">
              <a:ext uri="{FF2B5EF4-FFF2-40B4-BE49-F238E27FC236}">
                <a16:creationId xmlns:a16="http://schemas.microsoft.com/office/drawing/2014/main" id="{D9B0E530-5636-4089-98D7-4AB15C42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38625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SHA-1 · расстояние pHash ≤ 8 · CLIP ≥ 0,93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f6f8a405475d"/>
          <a:stretch xmlns:a="http://schemas.openxmlformats.org/drawingml/2006/main"/>
        </p:blipFill>
        <p:spPr>
          <a:xfrm xmlns:a="http://schemas.openxmlformats.org/drawingml/2006/main">
            <a:off x="7191643" y="1866900"/>
            <a:ext cx="4533363" cy="3352800"/>
          </a:xfrm>
          <a:prstGeom xmlns:a="http://schemas.openxmlformats.org/drawingml/2006/main" prst="rect">
            <a:avLst/>
          </a:prstGeom>
        </p:spPr>
      </p:pic>
      <p:sp>
        <p:nvSpPr>
          <p:cNvPr id="15" name="Балл = сумма сигналов и штрафов, от 0 до 1">
            <a:extLst xmlns:a="http://schemas.openxmlformats.org/drawingml/2006/main">
              <a:ext uri="{FF2B5EF4-FFF2-40B4-BE49-F238E27FC236}">
                <a16:creationId xmlns:a16="http://schemas.microsoft.com/office/drawing/2014/main" id="{D1C3F111-CCCD-41DC-9C9D-B5789DEE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38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72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Балл = сумма сигналов и штрафов, от 0 до 1</a:t>
            </a:r>
          </a:p>
        </p:txBody>
      </p:sp>
      <p:sp>
        <p:nvSpPr>
          <p:cNvPr id="16" name="≥0,65 подтверждено · 0,40–0,64 вероятно · ниже — отклонено¹">
            <a:extLst xmlns:a="http://schemas.openxmlformats.org/drawingml/2006/main">
              <a:ext uri="{FF2B5EF4-FFF2-40B4-BE49-F238E27FC236}">
                <a16:creationId xmlns:a16="http://schemas.microsoft.com/office/drawing/2014/main" id="{665118F1-AFCB-4A94-A447-E041A461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656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35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≥0,65 подтверждено · 0,40–0,64 вероятно · ниже — отклонено¹</a:t>
            </a:r>
          </a:p>
        </p:txBody>
      </p:sp>
      <p:sp>
        <p:nvSpPr>
          <p:cNvPr id="17" name="93,8%">
            <a:extLst xmlns:a="http://schemas.openxmlformats.org/drawingml/2006/main">
              <a:ext uri="{FF2B5EF4-FFF2-40B4-BE49-F238E27FC236}">
                <a16:creationId xmlns:a16="http://schemas.microsoft.com/office/drawing/2014/main" id="{D3AA4908-C6CF-4E4F-ADC0-523DED63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2238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3075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93,8%</a:t>
            </a:r>
          </a:p>
        </p:txBody>
      </p:sp>
      <p:sp>
        <p:nvSpPr>
          <p:cNvPr id="18" name="precision / recall&#10;223 фото · 7 вузов · внутренняя оценка">
            <a:extLst xmlns:a="http://schemas.openxmlformats.org/drawingml/2006/main">
              <a:ext uri="{FF2B5EF4-FFF2-40B4-BE49-F238E27FC236}">
                <a16:creationId xmlns:a16="http://schemas.microsoft.com/office/drawing/2014/main" id="{A3D29356-71FF-45AD-8A87-AAD196A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57875"/>
            <a:ext cx="655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precision / recall</a:t>
            </a:r>
          </a:p>
          <a:p xmlns:a="http://schemas.openxmlformats.org/drawingml/2006/main">
            <a:pPr>
              <a:defRPr sz="14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223 фото · 7 вузов · внутренняя оценка</a:t>
            </a:r>
          </a:p>
        </p:txBody>
      </p:sp>
      <p:sp>
        <p:nvSpPr>
          <p:cNvPr id="19" name="¹ Жёсткие правила важнее балла: чужие места и непроверенные ">
            <a:extLst xmlns:a="http://schemas.openxmlformats.org/drawingml/2006/main">
              <a:ext uri="{FF2B5EF4-FFF2-40B4-BE49-F238E27FC236}">
                <a16:creationId xmlns:a16="http://schemas.microsoft.com/office/drawing/2014/main" id="{963D8964-780D-4A5E-8444-51F188B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8486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1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¹ Жёсткие правила важнее балла: чужие места и непроверенные поисковые фото отсеиваются</a:t>
            </a:r>
          </a:p>
        </p:txBody>
      </p:sp>
    </p:spTree>
    <p:extLst>
      <p:ext uri="{BB962C8B-B14F-4D97-AF65-F5344CB8AC3E}">
        <p14:creationId xmlns:p14="http://schemas.microsoft.com/office/powerpoint/2010/main" val="449067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c05ace77d4a89"/>
          <a:srcRect xmlns:a="http://schemas.openxmlformats.org/drawingml/2006/main" l="18310" t="0" r="183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1857375"/>
            <a:ext cx="1524000" cy="5000625"/>
          </a:xfrm>
          <a:prstGeom xmlns:a="http://schemas.openxmlformats.org/drawingml/2006/main" prst="rect">
            <a:avLst/>
          </a:prstGeom>
        </p:spPr>
      </p:pic>
      <p:sp>
        <p:nvSpPr>
          <p:cNvPr id="2" name="Сравнение вузов и условия жизни">
            <a:extLst xmlns:a="http://schemas.openxmlformats.org/drawingml/2006/main">
              <a:ext uri="{FF2B5EF4-FFF2-40B4-BE49-F238E27FC236}">
                <a16:creationId xmlns:a16="http://schemas.microsoft.com/office/drawing/2014/main" id="{D676B94D-F2B7-4F28-B642-524018DF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Сравнение вузов и условия жизни</a:t>
            </a:r>
          </a:p>
        </p:txBody>
      </p:sp>
      <p:sp>
        <p:nvSpPr>
          <p:cNvPr id="3" name="CampusLense · QwertyS">
            <a:extLst xmlns:a="http://schemas.openxmlformats.org/drawingml/2006/main">
              <a:ext uri="{FF2B5EF4-FFF2-40B4-BE49-F238E27FC236}">
                <a16:creationId xmlns:a16="http://schemas.microsoft.com/office/drawing/2014/main" id="{0E15083A-27BC-45EC-9E75-F22AEDD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1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CampusLense · QwertyS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9812F329-2C7A-4892-8E12-43438BE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06</a:t>
            </a:r>
          </a:p>
        </p:txBody>
      </p:sp>
      <p:sp>
        <p:nvSpPr>
          <p:cNvPr id="5" name="Проверенные материалы помогают сравнивать конкретные условия">
            <a:extLst xmlns:a="http://schemas.openxmlformats.org/drawingml/2006/main">
              <a:ext uri="{FF2B5EF4-FFF2-40B4-BE49-F238E27FC236}">
                <a16:creationId xmlns:a16="http://schemas.microsoft.com/office/drawing/2014/main" id="{13676F54-E6DC-4E5F-BC39-3AE2A06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Проверенные материалы помогают сравнивать конкретные условия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f6c94bde42cf"/>
          <a:stretch xmlns:a="http://schemas.openxmlformats.org/drawingml/2006/main"/>
        </p:blipFill>
        <p:spPr>
          <a:xfrm xmlns:a="http://schemas.openxmlformats.org/drawingml/2006/main">
            <a:off x="571500" y="1925053"/>
            <a:ext cx="6562725" cy="4065170"/>
          </a:xfrm>
          <a:prstGeom xmlns:a="http://schemas.openxmlformats.org/drawingml/2006/main" prst="rect">
            <a:avLst/>
          </a:prstGeom>
        </p:spPr>
      </p:pic>
      <p:sp>
        <p:nvSpPr>
          <p:cNvPr id="7" name="ИИ-советник">
            <a:extLst xmlns:a="http://schemas.openxmlformats.org/drawingml/2006/main">
              <a:ext uri="{FF2B5EF4-FFF2-40B4-BE49-F238E27FC236}">
                <a16:creationId xmlns:a16="http://schemas.microsoft.com/office/drawing/2014/main" id="{FD735E7E-2111-4826-91A0-3DFD195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431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ИИ-советник</a:t>
            </a:r>
          </a:p>
        </p:txBody>
      </p:sp>
      <p:sp>
        <p:nvSpPr>
          <p:cNvPr id="8" name="Ответы по данным двух профилей&#10;и найденным источникам">
            <a:extLst xmlns:a="http://schemas.openxmlformats.org/drawingml/2006/main">
              <a:ext uri="{FF2B5EF4-FFF2-40B4-BE49-F238E27FC236}">
                <a16:creationId xmlns:a16="http://schemas.microsoft.com/office/drawing/2014/main" id="{2A90D315-BAC5-49F6-8DCC-6BC25162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24100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Ответы по данным двух профилей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найденным источникам</a:t>
            </a:r>
          </a:p>
        </p:txBody>
      </p:sp>
      <p:sp>
        <p:nvSpPr>
          <p:cNvPr id="9" name="Город и бюджет">
            <a:extLst xmlns:a="http://schemas.openxmlformats.org/drawingml/2006/main">
              <a:ext uri="{FF2B5EF4-FFF2-40B4-BE49-F238E27FC236}">
                <a16:creationId xmlns:a16="http://schemas.microsoft.com/office/drawing/2014/main" id="{D8946D75-D100-450A-97DF-BA07A3B2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00037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Город и бюджет</a:t>
            </a:r>
          </a:p>
        </p:txBody>
      </p:sp>
      <p:sp>
        <p:nvSpPr>
          <p:cNvPr id="10" name="Транспорт, места рядом&#10;и ориентир по стоимости жизни">
            <a:extLst xmlns:a="http://schemas.openxmlformats.org/drawingml/2006/main">
              <a:ext uri="{FF2B5EF4-FFF2-40B4-BE49-F238E27FC236}">
                <a16:creationId xmlns:a16="http://schemas.microsoft.com/office/drawing/2014/main" id="{8D556DE6-0E08-4A82-A182-FF4E554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8137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Транспорт, места рядом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ориентир по стоимости жизни</a:t>
            </a:r>
          </a:p>
        </p:txBody>
      </p:sp>
      <p:sp>
        <p:nvSpPr>
          <p:cNvPr id="11" name="Климат">
            <a:extLst xmlns:a="http://schemas.openxmlformats.org/drawingml/2006/main">
              <a:ext uri="{FF2B5EF4-FFF2-40B4-BE49-F238E27FC236}">
                <a16:creationId xmlns:a16="http://schemas.microsoft.com/office/drawing/2014/main" id="{9C31717E-3F3A-4F4F-B79E-607AB93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5765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Климат</a:t>
            </a:r>
          </a:p>
        </p:txBody>
      </p:sp>
      <p:sp>
        <p:nvSpPr>
          <p:cNvPr id="12" name="Погода по месяцам, сезоны&#10;и календарь комфорта">
            <a:extLst xmlns:a="http://schemas.openxmlformats.org/drawingml/2006/main">
              <a:ext uri="{FF2B5EF4-FFF2-40B4-BE49-F238E27FC236}">
                <a16:creationId xmlns:a16="http://schemas.microsoft.com/office/drawing/2014/main" id="{23E55D90-4258-44C1-88B4-6C7FD3C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38650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Погода по месяцам, сезоны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и календарь комфорта</a:t>
            </a:r>
          </a:p>
        </p:txBody>
      </p:sp>
      <p:sp>
        <p:nvSpPr>
          <p:cNvPr id="13" name="Удобный выбор">
            <a:extLst xmlns:a="http://schemas.openxmlformats.org/drawingml/2006/main">
              <a:ext uri="{FF2B5EF4-FFF2-40B4-BE49-F238E27FC236}">
                <a16:creationId xmlns:a16="http://schemas.microsoft.com/office/drawing/2014/main" id="{172E515B-3070-462C-828B-C5EEAF5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114925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Удобный выбор</a:t>
            </a:r>
          </a:p>
        </p:txBody>
      </p:sp>
      <p:sp>
        <p:nvSpPr>
          <p:cNvPr id="14" name="Сохранённые вузы, план визита&#10;RU / KZ / EN · телефон и ПК">
            <a:extLst xmlns:a="http://schemas.openxmlformats.org/drawingml/2006/main">
              <a:ext uri="{FF2B5EF4-FFF2-40B4-BE49-F238E27FC236}">
                <a16:creationId xmlns:a16="http://schemas.microsoft.com/office/drawing/2014/main" id="{861C3276-4394-4F70-9333-752641A5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4959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Сохранённые вузы, план визита</a:t>
            </a:r>
          </a:p>
          <a:p xmlns:a="http://schemas.openxmlformats.org/drawingml/2006/main">
            <a:pPr>
              <a:defRPr sz="15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RU / KZ / EN · телефон и ПК</a:t>
            </a:r>
          </a:p>
        </p:txBody>
      </p:sp>
      <p:sp>
        <p:nvSpPr>
          <p:cNvPr id="15" name="Open-Meteo · OSM · Google Maps · данные профилей">
            <a:extLst xmlns:a="http://schemas.openxmlformats.org/drawingml/2006/main">
              <a:ext uri="{FF2B5EF4-FFF2-40B4-BE49-F238E27FC236}">
                <a16:creationId xmlns:a16="http://schemas.microsoft.com/office/drawing/2014/main" id="{8839D0E6-F16F-4764-BAF6-46B0A325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6943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4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Open-Meteo · OSM · Google Maps · данные профилей</a:t>
            </a:r>
          </a:p>
        </p:txBody>
      </p:sp>
    </p:spTree>
    <p:extLst>
      <p:ext uri="{BB962C8B-B14F-4D97-AF65-F5344CB8AC3E}">
        <p14:creationId xmlns:p14="http://schemas.microsoft.com/office/powerpoint/2010/main" val="2100329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cf39dd25e4302"/>
          <a:srcRect xmlns:a="http://schemas.openxmlformats.org/drawingml/2006/main" l="0" t="32162" r="0" b="32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4210050"/>
            <a:ext cx="2952750" cy="2190750"/>
          </a:xfrm>
          <a:prstGeom xmlns:a="http://schemas.openxmlformats.org/drawingml/2006/main" prst="rect">
            <a:avLst/>
          </a:prstGeom>
        </p:spPr>
      </p:pic>
      <p:sp>
        <p:nvSpPr>
          <p:cNvPr id="2" name="Команда QwertyS">
            <a:extLst xmlns:a="http://schemas.openxmlformats.org/drawingml/2006/main">
              <a:ext uri="{FF2B5EF4-FFF2-40B4-BE49-F238E27FC236}">
                <a16:creationId xmlns:a16="http://schemas.microsoft.com/office/drawing/2014/main" id="{25B3874D-3E49-4063-BD2E-FC1334A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Команда QwertyS</a:t>
            </a:r>
          </a:p>
        </p:txBody>
      </p:sp>
      <p:sp>
        <p:nvSpPr>
          <p:cNvPr id="3" name="CampusLense · QwertyS">
            <a:extLst xmlns:a="http://schemas.openxmlformats.org/drawingml/2006/main">
              <a:ext uri="{FF2B5EF4-FFF2-40B4-BE49-F238E27FC236}">
                <a16:creationId xmlns:a16="http://schemas.microsoft.com/office/drawing/2014/main" id="{BF7CC0B0-DA95-475E-B337-5FF0A253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1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CampusLense · QwertyS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2CCCC5ED-774E-49EB-BF8F-02B4A728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64484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27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07</a:t>
            </a:r>
          </a:p>
        </p:txBody>
      </p:sp>
      <p:sp>
        <p:nvSpPr>
          <p:cNvPr id="5" name="Разработка в рамках LOCUS Startup Hackathon · 16–19 сентября">
            <a:extLst xmlns:a="http://schemas.openxmlformats.org/drawingml/2006/main">
              <a:ext uri="{FF2B5EF4-FFF2-40B4-BE49-F238E27FC236}">
                <a16:creationId xmlns:a16="http://schemas.microsoft.com/office/drawing/2014/main" id="{488F7DF7-B2A9-4FAB-84CB-20D2B80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Разработка в рамках LOCUS Startup Hackathon · 16–19 сентября</a:t>
            </a:r>
          </a:p>
        </p:txBody>
      </p:sp>
      <p:sp>
        <p:nvSpPr>
          <p:cNvPr id="6" name="Ахмер&#10;Шахназар">
            <a:extLst xmlns:a="http://schemas.openxmlformats.org/drawingml/2006/main">
              <a:ext uri="{FF2B5EF4-FFF2-40B4-BE49-F238E27FC236}">
                <a16:creationId xmlns:a16="http://schemas.microsoft.com/office/drawing/2014/main" id="{5B371B64-A296-4BB7-8DFE-75F48F4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4810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Ахмер</a:t>
            </a:r>
          </a:p>
          <a:p xmlns:a="http://schemas.openxmlformats.org/drawingml/2006/main">
            <a:pPr>
              <a:defRPr sz="36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Шахназар</a:t>
            </a:r>
          </a:p>
        </p:txBody>
      </p:sp>
      <p:sp>
        <p:nvSpPr>
          <p:cNvPr id="7" name="Капитан · full-stack разработчик">
            <a:extLst xmlns:a="http://schemas.openxmlformats.org/drawingml/2006/main">
              <a:ext uri="{FF2B5EF4-FFF2-40B4-BE49-F238E27FC236}">
                <a16:creationId xmlns:a16="http://schemas.microsoft.com/office/drawing/2014/main" id="{FD3EF29E-2E4C-44D3-BCE3-4C8DBC4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511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D4ED8"/>
                </a:solidFill>
                <a:latin typeface="Onest"/>
                <a:ea typeface="Onest"/>
                <a:cs typeface="Onest"/>
              </a:rPr>
              <a:t>Капитан · full-stack разработчик</a:t>
            </a:r>
          </a:p>
        </p:txBody>
      </p:sp>
      <p:sp>
        <p:nvSpPr>
          <p:cNvPr id="8" name="Аймукатов&#10;Нурхан">
            <a:extLst xmlns:a="http://schemas.openxmlformats.org/drawingml/2006/main">
              <a:ext uri="{FF2B5EF4-FFF2-40B4-BE49-F238E27FC236}">
                <a16:creationId xmlns:a16="http://schemas.microsoft.com/office/drawing/2014/main" id="{DC5DA065-D6A6-495D-AA68-2988169B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5029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Аймукатов</a:t>
            </a:r>
          </a:p>
          <a:p xmlns:a="http://schemas.openxmlformats.org/drawingml/2006/main">
            <a:pPr>
              <a:defRPr sz="3675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675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Нурхан</a:t>
            </a:r>
          </a:p>
        </p:txBody>
      </p:sp>
      <p:sp>
        <p:nvSpPr>
          <p:cNvPr id="9" name="Full-stack разработчик">
            <a:extLst xmlns:a="http://schemas.openxmlformats.org/drawingml/2006/main">
              <a:ext uri="{FF2B5EF4-FFF2-40B4-BE49-F238E27FC236}">
                <a16:creationId xmlns:a16="http://schemas.microsoft.com/office/drawing/2014/main" id="{01BAC99D-E7E5-4E18-826B-F7AB423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9567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Full-stack разработчик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349C-1F63-4693-A93D-18A28A4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802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6EF"/>
            </a:solidFill>
          </a:ln>
        </p:spPr>
      </p:sp>
      <p:sp>
        <p:nvSpPr>
          <p:cNvPr id="11" name="Что развивать после хакатона">
            <a:extLst xmlns:a="http://schemas.openxmlformats.org/drawingml/2006/main">
              <a:ext uri="{FF2B5EF4-FFF2-40B4-BE49-F238E27FC236}">
                <a16:creationId xmlns:a16="http://schemas.microsoft.com/office/drawing/2014/main" id="{5012F0C6-7EE3-440C-9F65-5680A868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Что развивать после хакатона</a:t>
            </a:r>
          </a:p>
        </p:txBody>
      </p:sp>
      <p:sp>
        <p:nvSpPr>
          <p:cNvPr id="12" name="Расширить независимую разметку фото&#10;Улучшить покрытие регион">
            <a:extLst xmlns:a="http://schemas.openxmlformats.org/drawingml/2006/main">
              <a:ext uri="{FF2B5EF4-FFF2-40B4-BE49-F238E27FC236}">
                <a16:creationId xmlns:a16="http://schemas.microsoft.com/office/drawing/2014/main" id="{44F26A92-D1E0-4278-A201-EEEAD74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8382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Расширить независимую разметку фото</a:t>
            </a:r>
          </a:p>
          <a:p xmlns:a="http://schemas.openxmlformats.org/drawingml/2006/main">
            <a:pPr>
              <a:defRPr sz="17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Улучшить покрытие региональных вузов</a:t>
            </a:r>
          </a:p>
          <a:p xmlns:a="http://schemas.openxmlformats.org/drawingml/2006/main">
            <a:pPr>
              <a:defRPr sz="17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Проверить сценарий выбора на абитуриентах</a:t>
            </a:r>
          </a:p>
        </p:txBody>
      </p:sp>
    </p:spTree>
    <p:extLst>
      <p:ext uri="{BB962C8B-B14F-4D97-AF65-F5344CB8AC3E}">
        <p14:creationId xmlns:p14="http://schemas.microsoft.com/office/powerpoint/2010/main" val="260445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56e5205cc4f9d"/>
          <a:srcRect xmlns:a="http://schemas.openxmlformats.org/drawingml/2006/main" l="0" t="6286" r="0" b="6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0"/>
            <a:ext cx="3771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Живая демонстрация">
            <a:extLst xmlns:a="http://schemas.openxmlformats.org/drawingml/2006/main">
              <a:ext uri="{FF2B5EF4-FFF2-40B4-BE49-F238E27FC236}">
                <a16:creationId xmlns:a16="http://schemas.microsoft.com/office/drawing/2014/main" id="{956D8514-C29E-40D6-8502-9117DD7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345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Живая демонстрация</a:t>
            </a:r>
          </a:p>
        </p:txBody>
      </p:sp>
      <p:sp>
        <p:nvSpPr>
          <p:cNvPr id="3" name="Проверка на университете, которого нет в примерах">
            <a:extLst xmlns:a="http://schemas.openxmlformats.org/drawingml/2006/main">
              <a:ext uri="{FF2B5EF4-FFF2-40B4-BE49-F238E27FC236}">
                <a16:creationId xmlns:a16="http://schemas.microsoft.com/office/drawing/2014/main" id="{6A056EE8-DFA8-43C3-8789-3468A3B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Проверка на университете, которого нет в примерах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C5BE1921-0EAE-4C0B-A3EA-879D9B9F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5" name="Найти новый вуз">
            <a:extLst xmlns:a="http://schemas.openxmlformats.org/drawingml/2006/main">
              <a:ext uri="{FF2B5EF4-FFF2-40B4-BE49-F238E27FC236}">
                <a16:creationId xmlns:a16="http://schemas.microsoft.com/office/drawing/2014/main" id="{386B651C-1026-435B-8F7B-4DBE3BF7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Найти новый вуз</a:t>
            </a:r>
          </a:p>
        </p:txBody>
      </p:sp>
      <p:sp>
        <p:nvSpPr>
          <p:cNvPr id="6" name="Название → выбор кандидата → 3D-кампус">
            <a:extLst xmlns:a="http://schemas.openxmlformats.org/drawingml/2006/main">
              <a:ext uri="{FF2B5EF4-FFF2-40B4-BE49-F238E27FC236}">
                <a16:creationId xmlns:a16="http://schemas.microsoft.com/office/drawing/2014/main" id="{E5D281A3-0104-4F5F-8362-1A1481E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860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Название → выбор кандидата → 3D-кампус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DF588B3-291A-490E-999A-967223AA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8" name="Открыть визуаль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460DD5F1-040F-466B-972D-FDDB6830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766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Открыть визуальный профиль</a:t>
            </a:r>
          </a:p>
        </p:txBody>
      </p:sp>
      <p:sp>
        <p:nvSpPr>
          <p:cNvPr id="9" name="Категории, фильтры и время сборки">
            <a:extLst xmlns:a="http://schemas.openxmlformats.org/drawingml/2006/main">
              <a:ext uri="{FF2B5EF4-FFF2-40B4-BE49-F238E27FC236}">
                <a16:creationId xmlns:a16="http://schemas.microsoft.com/office/drawing/2014/main" id="{28884C6F-F742-4FB4-94C6-4103E015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957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Категории, фильтры и время сборки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1AEC18F6-5A0E-4614-BF8D-A421D916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1">
                <a:solidFill>
                  <a:srgbClr val="1D4ED8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11" name="Проверить несколько фотографий">
            <a:extLst xmlns:a="http://schemas.openxmlformats.org/drawingml/2006/main">
              <a:ext uri="{FF2B5EF4-FFF2-40B4-BE49-F238E27FC236}">
                <a16:creationId xmlns:a16="http://schemas.microsoft.com/office/drawing/2014/main" id="{C132B31F-BE6D-427D-AAB8-CD51EBF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862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0D12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0B0D12"/>
                </a:solidFill>
                <a:latin typeface="Onest"/>
                <a:ea typeface="Onest"/>
                <a:cs typeface="Onest"/>
              </a:rPr>
              <a:t>Проверить несколько фотографий</a:t>
            </a:r>
          </a:p>
        </p:txBody>
      </p:sp>
      <p:sp>
        <p:nvSpPr>
          <p:cNvPr id="12" name="Первоисточник, дата, сигналы и причины отклонения">
            <a:extLst xmlns:a="http://schemas.openxmlformats.org/drawingml/2006/main">
              <a:ext uri="{FF2B5EF4-FFF2-40B4-BE49-F238E27FC236}">
                <a16:creationId xmlns:a16="http://schemas.microsoft.com/office/drawing/2014/main" id="{4FCD3DD8-8509-4F55-931B-AE61C0E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053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6A79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626A79"/>
                </a:solidFill>
                <a:latin typeface="Onest"/>
                <a:ea typeface="Onest"/>
                <a:cs typeface="Onest"/>
              </a:rPr>
              <a:t>Первоисточник, дата, сигналы и причины отклонения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BD427-6032-4E9C-80E7-CBD9E990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737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6EF"/>
            </a:solidFill>
          </a:ln>
        </p:spPr>
      </p:sp>
      <p:sp>
        <p:nvSpPr>
          <p:cNvPr id="14" name="Открыть CampusLense">
            <a:extLst xmlns:a="http://schemas.openxmlformats.org/drawingml/2006/main">
              <a:ext uri="{FF2B5EF4-FFF2-40B4-BE49-F238E27FC236}">
                <a16:creationId xmlns:a16="http://schemas.microsoft.com/office/drawing/2014/main" id="{FB40693A-6C2D-47CC-A883-C3B6610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737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2175" b="1">
                <a:solidFill>
                  <a:srgbClr val="1D4ED8"/>
                </a:solidFill>
                <a:latin typeface="Onest"/>
                <a:ea typeface="Onest"/>
                <a:cs typeface="Onest"/>
                <a:hlinkClick xmlns:r="http://schemas.openxmlformats.org/officeDocument/2006/relationships" r:id="R39c41e9944344b48"/>
              </a:rPr>
              <a:t>Открыть CampusLense</a:t>
            </a:r>
          </a:p>
        </p:txBody>
      </p:sp>
      <p:sp>
        <p:nvSpPr>
          <p:cNvPr id="15" name="GitHub: Eye172/locus-hackathon-1">
            <a:extLst xmlns:a="http://schemas.openxmlformats.org/drawingml/2006/main">
              <a:ext uri="{FF2B5EF4-FFF2-40B4-BE49-F238E27FC236}">
                <a16:creationId xmlns:a16="http://schemas.microsoft.com/office/drawing/2014/main" id="{707739E6-AC51-48FD-A26F-FBC90AD7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4ED8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D4ED8"/>
                </a:solidFill>
                <a:latin typeface="Onest"/>
                <a:ea typeface="Onest"/>
                <a:cs typeface="Onest"/>
                <a:hlinkClick xmlns:r="http://schemas.openxmlformats.org/officeDocument/2006/relationships" r:id="Rd9f25eb5ce804959"/>
              </a:rPr>
              <a:t>GitHub: Eye172/locus-hackathon-1</a:t>
            </a:r>
          </a:p>
        </p:txBody>
      </p:sp>
    </p:spTree>
    <p:extLst>
      <p:ext uri="{BB962C8B-B14F-4D97-AF65-F5344CB8AC3E}">
        <p14:creationId xmlns:p14="http://schemas.microsoft.com/office/powerpoint/2010/main" val="1213659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2026-09-19T06:43:31.7610000Z</dcterms:created>
  <dcterms:modified xsi:type="dcterms:W3CDTF">2026-09-19T06:43:31.7610000Z</dcterms:modified>
</coreProperties>
</file>